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ページ番号"/>
          <p:cNvSpPr txBox="1"/>
          <p:nvPr userDrawn="1"/>
        </p:nvSpPr>
        <p:spPr>
          <a:xfrm>
            <a:off x="1058875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ja-JP" sz="1000">
                <a:solidFill>
                  <a:srgbClr val="6B6B6B"/>
                </a:solidFill>
                <a:latin typeface="Consolas"/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57784"/>
            <a:ext cx="73152" cy="73152"/>
          </a:xfrm>
          <a:prstGeom prst="ellipse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589597"/>
            <a:ext cx="274320" cy="9525"/>
          </a:xfrm>
          <a:prstGeom prst="rect">
            <a:avLst/>
          </a:prstGeom>
          <a:solidFill>
            <a:srgbClr val="5F66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8488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今のサイトの課題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429768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JIL</a:t>
            </a:r>
          </a:p>
        </p:txBody>
      </p:sp>
      <p:sp>
        <p:nvSpPr>
          <p:cNvPr id="7" name="Oval 6"/>
          <p:cNvSpPr/>
          <p:nvPr/>
        </p:nvSpPr>
        <p:spPr>
          <a:xfrm>
            <a:off x="11402568" y="630936"/>
            <a:ext cx="68580" cy="68580"/>
          </a:xfrm>
          <a:prstGeom prst="ellipse">
            <a:avLst/>
          </a:prstGeom>
          <a:solidFill>
            <a:srgbClr val="2D44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会社の顔つきが見えにくい今のサイト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32342"/>
            <a:ext cx="4754880" cy="15875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9631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888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最初の画面は英字の標語と商品写真。</a:t>
            </a:r>
          </a:p>
          <a:p>
            <a:pPr algn="l">
              <a:lnSpc>
                <a:spcPct val="135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何の会社か読み取りにくい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424237"/>
            <a:ext cx="475488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8503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65760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載っている事業は2つ。</a:t>
            </a:r>
          </a:p>
          <a:p>
            <a:pPr algn="l">
              <a:lnSpc>
                <a:spcPct val="135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すでに提供中の採用支援が載っていない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612957"/>
            <a:ext cx="475488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87375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84632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働く人・組織の様子が伝わらない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801677"/>
            <a:ext cx="475488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corp_old_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240280"/>
            <a:ext cx="5742432" cy="358902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685800" y="6355080"/>
            <a:ext cx="9628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出典：https://jilinc.co.jp/ （2026/10/23 撮影）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57784"/>
            <a:ext cx="73152" cy="73152"/>
          </a:xfrm>
          <a:prstGeom prst="ellipse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589597"/>
            <a:ext cx="274320" cy="9525"/>
          </a:xfrm>
          <a:prstGeom prst="rect">
            <a:avLst/>
          </a:prstGeom>
          <a:solidFill>
            <a:srgbClr val="5F66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8488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リニューアルの目標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429768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JIL</a:t>
            </a:r>
          </a:p>
        </p:txBody>
      </p:sp>
      <p:sp>
        <p:nvSpPr>
          <p:cNvPr id="7" name="Oval 6"/>
          <p:cNvSpPr/>
          <p:nvPr/>
        </p:nvSpPr>
        <p:spPr>
          <a:xfrm>
            <a:off x="11402568" y="630936"/>
            <a:ext cx="68580" cy="68580"/>
          </a:xfrm>
          <a:prstGeom prst="ellipse">
            <a:avLst/>
          </a:prstGeom>
          <a:solidFill>
            <a:srgbClr val="2D44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「人が中心の、AIで動く会社」が伝わるサイトへ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40902"/>
            <a:ext cx="3361943" cy="15875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04288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51760"/>
            <a:ext cx="336194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ひと目で</a:t>
            </a:r>
          </a:p>
          <a:p>
            <a:pPr algn="l">
              <a:lnSpc>
                <a:spcPct val="135000"/>
              </a:lnSpc>
            </a:pPr>
            <a:r>
              <a:rPr sz="2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「何の会社か」がわかる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2140902"/>
            <a:ext cx="3361943" cy="15875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3504" y="2304288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3504" y="2651760"/>
            <a:ext cx="336194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3つの事業が</a:t>
            </a:r>
          </a:p>
          <a:p>
            <a:pPr algn="l">
              <a:lnSpc>
                <a:spcPct val="135000"/>
              </a:lnSpc>
            </a:pPr>
            <a:r>
              <a:rPr sz="2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そろって見える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3504" y="3447288"/>
            <a:ext cx="33619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プロダクト／新規事業開発支援／</a:t>
            </a:r>
          </a:p>
          <a:p>
            <a:pPr algn="l">
              <a:lnSpc>
                <a:spcPct val="135000"/>
              </a:lnSpc>
            </a:pPr>
            <a:r>
              <a:rPr sz="14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採用支援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41207" y="2140902"/>
            <a:ext cx="3361943" cy="15875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1207" y="2304288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1207" y="2651760"/>
            <a:ext cx="336194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読んだ人が迷わず、</a:t>
            </a:r>
          </a:p>
          <a:p>
            <a:pPr algn="l">
              <a:lnSpc>
                <a:spcPct val="135000"/>
              </a:lnSpc>
            </a:pPr>
            <a:r>
              <a:rPr sz="2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お問い合わせまで</a:t>
            </a:r>
          </a:p>
          <a:p>
            <a:pPr algn="l">
              <a:lnSpc>
                <a:spcPct val="135000"/>
              </a:lnSpc>
            </a:pPr>
            <a:r>
              <a:rPr sz="2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たどり着ける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主な読み手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114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知りたいこと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454334"/>
            <a:ext cx="10817352" cy="15875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58114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発注を考える企業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581144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何を頼めるか、任せて大丈夫か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969573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093207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一緒に働きたい人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5093207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どんな考え方・どんな人の会社か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481637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6052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取引先・関係者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5605272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会社の概要、役員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993701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57784"/>
            <a:ext cx="73152" cy="73152"/>
          </a:xfrm>
          <a:prstGeom prst="ellipse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589597"/>
            <a:ext cx="274320" cy="9525"/>
          </a:xfrm>
          <a:prstGeom prst="rect">
            <a:avLst/>
          </a:prstGeom>
          <a:solidFill>
            <a:srgbClr val="5F66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8488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伝えたいことの整理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429768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JIL</a:t>
            </a:r>
          </a:p>
        </p:txBody>
      </p:sp>
      <p:sp>
        <p:nvSpPr>
          <p:cNvPr id="7" name="Oval 6"/>
          <p:cNvSpPr/>
          <p:nvPr/>
        </p:nvSpPr>
        <p:spPr>
          <a:xfrm>
            <a:off x="11402568" y="630936"/>
            <a:ext cx="68580" cy="68580"/>
          </a:xfrm>
          <a:prstGeom prst="ellipse">
            <a:avLst/>
          </a:prstGeom>
          <a:solidFill>
            <a:srgbClr val="2D44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中心に人、周りにAI、外側に3つの事業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369502"/>
            <a:ext cx="5943600" cy="15875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615184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事業をつくる「人」の会社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87077"/>
            <a:ext cx="594360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5661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その周り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529584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組織のあらゆる仕事にAIを使う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201477"/>
            <a:ext cx="594360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480559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外側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4443983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人とAIの力を、3つの事業に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115877"/>
            <a:ext cx="594360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0" y="5394959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3つの事業は、互いに知見を返し合う</a:t>
            </a:r>
          </a:p>
        </p:txBody>
      </p:sp>
      <p:pic>
        <p:nvPicPr>
          <p:cNvPr id="20" name="Picture 19" descr="corp_new_top_shape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2" y="2194560"/>
            <a:ext cx="4167051" cy="40233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5800" y="6355080"/>
            <a:ext cx="9628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図：新しいトップページの「すべては、人から。」の欄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57784"/>
            <a:ext cx="73152" cy="73152"/>
          </a:xfrm>
          <a:prstGeom prst="ellipse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589597"/>
            <a:ext cx="274320" cy="9525"/>
          </a:xfrm>
          <a:prstGeom prst="rect">
            <a:avLst/>
          </a:prstGeom>
          <a:solidFill>
            <a:srgbClr val="5F66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8488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言葉の整理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429768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JIL</a:t>
            </a:r>
          </a:p>
        </p:txBody>
      </p:sp>
      <p:sp>
        <p:nvSpPr>
          <p:cNvPr id="7" name="Oval 6"/>
          <p:cNvSpPr/>
          <p:nvPr/>
        </p:nvSpPr>
        <p:spPr>
          <a:xfrm>
            <a:off x="11402568" y="630936"/>
            <a:ext cx="68580" cy="68580"/>
          </a:xfrm>
          <a:prstGeom prst="ellipse">
            <a:avLst/>
          </a:prstGeom>
          <a:solidFill>
            <a:srgbClr val="2D44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今のサイトの言葉を受け継ぎ、新しい言葉を足す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場所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194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言葉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34094"/>
            <a:ext cx="10817352" cy="15875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9747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最初の画面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660903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日本の可能性を、解き放つ。</a:t>
            </a:r>
          </a:p>
          <a:p>
            <a:pPr algn="l">
              <a:lnSpc>
                <a:spcPct val="120000"/>
              </a:lnSpc>
            </a:pPr>
            <a:r>
              <a:rPr sz="2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AI時代を生きる、私たちの手と意思で。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451669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1187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会社の一言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575303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JILは、事業をつくる会社です。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018597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78807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私たちについて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142231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日本の現場力と、AIの進化。そのあいだを、人で繋ぐ。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585525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4573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会社の構造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4709159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すべては、人から。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152453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31266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人とAI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276088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AIが手を増やし、人が意思を磨く。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719381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952744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「JAPAN IS LOVELY.」</a:t>
            </a: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は社名の由来として残し、フッターに大きく置く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57784"/>
            <a:ext cx="73152" cy="73152"/>
          </a:xfrm>
          <a:prstGeom prst="ellipse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589597"/>
            <a:ext cx="274320" cy="9525"/>
          </a:xfrm>
          <a:prstGeom prst="rect">
            <a:avLst/>
          </a:prstGeom>
          <a:solidFill>
            <a:srgbClr val="5F66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8488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参考サイトの調査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429768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JIL</a:t>
            </a:r>
          </a:p>
        </p:txBody>
      </p:sp>
      <p:sp>
        <p:nvSpPr>
          <p:cNvPr id="7" name="Oval 6"/>
          <p:cNvSpPr/>
          <p:nvPr/>
        </p:nvSpPr>
        <p:spPr>
          <a:xfrm>
            <a:off x="11402568" y="630936"/>
            <a:ext cx="68580" cy="68580"/>
          </a:xfrm>
          <a:prstGeom prst="ellipse">
            <a:avLst/>
          </a:prstGeom>
          <a:solidFill>
            <a:srgbClr val="2D44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国内外40社のコーポレートサイトを比較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86622"/>
            <a:ext cx="4206240" cy="15875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AI企業（国内）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PKSHA／Algomatic／LayerX／Sakana AI ほか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267712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7</a:t>
            </a:r>
            <a:r>
              <a:rPr sz="13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57309"/>
            <a:ext cx="420624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5351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AI企業（海外）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461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Anthropic／Cohere／Mistral ほか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935224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6</a:t>
            </a:r>
            <a:r>
              <a:rPr sz="13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24821"/>
            <a:ext cx="420624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21024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スタートアップ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91363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SmartHR／10X／Ubie／UPSIDER ほか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602736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8</a:t>
            </a:r>
            <a:r>
              <a:rPr sz="13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192333"/>
            <a:ext cx="420624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88536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制作・ブランディング（国内）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58114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Takram／Goodpatch／BASSDRUM ほか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270248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8</a:t>
            </a:r>
            <a:r>
              <a:rPr sz="13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859845"/>
            <a:ext cx="420624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956048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制作・ブランディング（海外）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24865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Pentagram／Instrument ほか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493776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5</a:t>
            </a:r>
            <a:r>
              <a:rPr sz="13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5527357"/>
            <a:ext cx="420624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6235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ITコンサル・人材・組織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9161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Ridgelinez／Sun*／MIMIGURI ほか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5605272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6</a:t>
            </a:r>
            <a:r>
              <a:rPr sz="13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6194869"/>
            <a:ext cx="420624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corp_refs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194560"/>
            <a:ext cx="6245352" cy="2461128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35" name="TextBox 34"/>
          <p:cNvSpPr txBox="1"/>
          <p:nvPr/>
        </p:nvSpPr>
        <p:spPr>
          <a:xfrm>
            <a:off x="5257800" y="4754880"/>
            <a:ext cx="62453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40社の最初の画面（左上から、左の表の分野の順に並べている）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355080"/>
            <a:ext cx="9628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出典：各社サイト（2026/10/23 撮影）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57784"/>
            <a:ext cx="73152" cy="73152"/>
          </a:xfrm>
          <a:prstGeom prst="ellipse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589597"/>
            <a:ext cx="274320" cy="9525"/>
          </a:xfrm>
          <a:prstGeom prst="rect">
            <a:avLst/>
          </a:prstGeom>
          <a:solidFill>
            <a:srgbClr val="5F66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8488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手本の選び方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429768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JIL</a:t>
            </a:r>
          </a:p>
        </p:txBody>
      </p:sp>
      <p:sp>
        <p:nvSpPr>
          <p:cNvPr id="7" name="Oval 6"/>
          <p:cNvSpPr/>
          <p:nvPr/>
        </p:nvSpPr>
        <p:spPr>
          <a:xfrm>
            <a:off x="11402568" y="630936"/>
            <a:ext cx="68580" cy="68580"/>
          </a:xfrm>
          <a:prstGeom prst="ellipse">
            <a:avLst/>
          </a:prstGeom>
          <a:solidFill>
            <a:srgbClr val="2D44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決め手は「人の集まりに見えるか」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手本にした4社</a:t>
            </a:r>
          </a:p>
        </p:txBody>
      </p:sp>
      <p:pic>
        <p:nvPicPr>
          <p:cNvPr id="10" name="Picture 9" descr="corp_ref_pksh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31720"/>
            <a:ext cx="2468880" cy="154305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85800" y="392963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PKSHA Technology</a:t>
            </a:r>
          </a:p>
        </p:txBody>
      </p:sp>
      <p:pic>
        <p:nvPicPr>
          <p:cNvPr id="12" name="Picture 11" descr="corp_ref_algomat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331720"/>
            <a:ext cx="2468880" cy="154305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3337560" y="392963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Algomatic</a:t>
            </a:r>
          </a:p>
        </p:txBody>
      </p:sp>
      <p:pic>
        <p:nvPicPr>
          <p:cNvPr id="14" name="Picture 13" descr="corp_ref_layerx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286250"/>
            <a:ext cx="2468880" cy="154305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85800" y="588416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LayerX</a:t>
            </a:r>
          </a:p>
        </p:txBody>
      </p:sp>
      <p:pic>
        <p:nvPicPr>
          <p:cNvPr id="16" name="Picture 15" descr="corp_ref_smarth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4286250"/>
            <a:ext cx="2468880" cy="154305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3337560" y="588416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SmartHR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011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手本から外した理由（例）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323782"/>
            <a:ext cx="5148072" cy="15875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468880"/>
            <a:ext cx="5148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商品紹介のページに見える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834640"/>
            <a:ext cx="5148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ELYZA／PFN／Sakana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3223069"/>
            <a:ext cx="514807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364992"/>
            <a:ext cx="5148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製品が主役すぎる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730752"/>
            <a:ext cx="5148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Harvey／10X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119181"/>
            <a:ext cx="514807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261104"/>
            <a:ext cx="5148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外資っぽい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626864"/>
            <a:ext cx="5148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Anthropic／Mistral／Runway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5015293"/>
            <a:ext cx="514807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5157216"/>
            <a:ext cx="5148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暗い・素っ気ない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522976"/>
            <a:ext cx="5148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Linear／Visional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5911405"/>
            <a:ext cx="514807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6355080"/>
            <a:ext cx="9628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出典：pkshatech.com／algomatic.jp／layerx.co.jp／smarthr.co.jp（2026/10/23 撮影）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57784"/>
            <a:ext cx="73152" cy="73152"/>
          </a:xfrm>
          <a:prstGeom prst="ellipse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589597"/>
            <a:ext cx="274320" cy="9525"/>
          </a:xfrm>
          <a:prstGeom prst="rect">
            <a:avLst/>
          </a:prstGeom>
          <a:solidFill>
            <a:srgbClr val="5F66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8488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手本4社の共通点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429768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JIL</a:t>
            </a:r>
          </a:p>
        </p:txBody>
      </p:sp>
      <p:sp>
        <p:nvSpPr>
          <p:cNvPr id="7" name="Oval 6"/>
          <p:cNvSpPr/>
          <p:nvPr/>
        </p:nvSpPr>
        <p:spPr>
          <a:xfrm>
            <a:off x="11402568" y="630936"/>
            <a:ext cx="68580" cy="68580"/>
          </a:xfrm>
          <a:prstGeom prst="ellipse">
            <a:avLst/>
          </a:prstGeom>
          <a:solidFill>
            <a:srgbClr val="2D44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4社に共通する6つの型と、JILでの取り入れ方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4社の共通点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2194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JILでの取り入れ方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34094"/>
            <a:ext cx="10817352" cy="15875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1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会社を言い切る一文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54880" y="2843784"/>
            <a:ext cx="502920" cy="0"/>
          </a:xfrm>
          <a:prstGeom prst="line">
            <a:avLst/>
          </a:prstGeom>
          <a:ln w="15875">
            <a:solidFill>
              <a:srgbClr val="2D44E0"/>
            </a:solidFill>
            <a:tailEnd type="triangle" w="med" len="med"/>
          </a:ln>
        </p:spPr>
      </p:cxnSp>
      <p:sp>
        <p:nvSpPr>
          <p:cNvPr id="14" name="TextBox 13"/>
          <p:cNvSpPr txBox="1"/>
          <p:nvPr/>
        </p:nvSpPr>
        <p:spPr>
          <a:xfrm>
            <a:off x="5532120" y="2679191"/>
            <a:ext cx="5971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日本の可能性を、解き放つ。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40773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8269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会社ならではのモチーフ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54880" y="3447288"/>
            <a:ext cx="502920" cy="0"/>
          </a:xfrm>
          <a:prstGeom prst="line">
            <a:avLst/>
          </a:prstGeom>
          <a:ln w="15875">
            <a:solidFill>
              <a:srgbClr val="2D44E0"/>
            </a:solidFill>
            <a:tailEnd type="triangle" w="med" len="med"/>
          </a:ln>
        </p:spPr>
      </p:cxnSp>
      <p:sp>
        <p:nvSpPr>
          <p:cNvPr id="18" name="TextBox 17"/>
          <p:cNvSpPr txBox="1"/>
          <p:nvPr/>
        </p:nvSpPr>
        <p:spPr>
          <a:xfrm>
            <a:off x="5532120" y="3282696"/>
            <a:ext cx="5971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水面に落ちる一滴（意思が広がる）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744277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862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中心から広がる構造図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54880" y="4050791"/>
            <a:ext cx="502920" cy="0"/>
          </a:xfrm>
          <a:prstGeom prst="line">
            <a:avLst/>
          </a:prstGeom>
          <a:ln w="15875">
            <a:solidFill>
              <a:srgbClr val="2D44E0"/>
            </a:solidFill>
            <a:tailEnd type="triangle" w="med" len="med"/>
          </a:ln>
        </p:spPr>
      </p:cxnSp>
      <p:sp>
        <p:nvSpPr>
          <p:cNvPr id="22" name="TextBox 21"/>
          <p:cNvSpPr txBox="1"/>
          <p:nvPr/>
        </p:nvSpPr>
        <p:spPr>
          <a:xfrm>
            <a:off x="5532120" y="3886200"/>
            <a:ext cx="5971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人 → AI → 3つの事業の図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347781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48970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厚い「私たちについて」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754880" y="4654296"/>
            <a:ext cx="502920" cy="0"/>
          </a:xfrm>
          <a:prstGeom prst="line">
            <a:avLst/>
          </a:prstGeom>
          <a:ln w="15875">
            <a:solidFill>
              <a:srgbClr val="2D44E0"/>
            </a:solidFill>
            <a:tailEnd type="triangle" w="med" len="med"/>
          </a:ln>
        </p:spPr>
      </p:cxnSp>
      <p:sp>
        <p:nvSpPr>
          <p:cNvPr id="26" name="TextBox 25"/>
          <p:cNvSpPr txBox="1"/>
          <p:nvPr/>
        </p:nvSpPr>
        <p:spPr>
          <a:xfrm>
            <a:off x="5532120" y="4489704"/>
            <a:ext cx="5971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独立したページに（ミッション〜会社概要）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951285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09320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明るい地に、ブランド色を1色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754880" y="5257800"/>
            <a:ext cx="502920" cy="0"/>
          </a:xfrm>
          <a:prstGeom prst="line">
            <a:avLst/>
          </a:prstGeom>
          <a:ln w="15875">
            <a:solidFill>
              <a:srgbClr val="2D44E0"/>
            </a:solidFill>
            <a:tailEnd type="triangle" w="med" len="med"/>
          </a:ln>
        </p:spPr>
      </p:cxnSp>
      <p:sp>
        <p:nvSpPr>
          <p:cNvPr id="30" name="TextBox 29"/>
          <p:cNvSpPr txBox="1"/>
          <p:nvPr/>
        </p:nvSpPr>
        <p:spPr>
          <a:xfrm>
            <a:off x="5532120" y="5093208"/>
            <a:ext cx="5971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白と墨に、青をひとつ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554789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69671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条件をそろえた社員写真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754880" y="5861304"/>
            <a:ext cx="502920" cy="0"/>
          </a:xfrm>
          <a:prstGeom prst="line">
            <a:avLst/>
          </a:prstGeom>
          <a:ln w="15875">
            <a:solidFill>
              <a:srgbClr val="2D44E0"/>
            </a:solidFill>
            <a:tailEnd type="triangle" w="med" len="med"/>
          </a:ln>
        </p:spPr>
      </p:cxnSp>
      <p:sp>
        <p:nvSpPr>
          <p:cNvPr id="34" name="TextBox 33"/>
          <p:cNvSpPr txBox="1"/>
          <p:nvPr/>
        </p:nvSpPr>
        <p:spPr>
          <a:xfrm>
            <a:off x="5532120" y="5696712"/>
            <a:ext cx="5971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撮影は役員3名のみ。組織感は図と言葉で出す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6158293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57784"/>
            <a:ext cx="73152" cy="73152"/>
          </a:xfrm>
          <a:prstGeom prst="ellipse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589597"/>
            <a:ext cx="274320" cy="9525"/>
          </a:xfrm>
          <a:prstGeom prst="rect">
            <a:avLst/>
          </a:prstGeom>
          <a:solidFill>
            <a:srgbClr val="5F66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8488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検討の経緯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429768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JIL</a:t>
            </a:r>
          </a:p>
        </p:txBody>
      </p:sp>
      <p:sp>
        <p:nvSpPr>
          <p:cNvPr id="7" name="Oval 6"/>
          <p:cNvSpPr/>
          <p:nvPr/>
        </p:nvSpPr>
        <p:spPr>
          <a:xfrm>
            <a:off x="11402568" y="630936"/>
            <a:ext cx="68580" cy="68580"/>
          </a:xfrm>
          <a:prstGeom prst="ellipse">
            <a:avLst/>
          </a:prstGeom>
          <a:solidFill>
            <a:srgbClr val="2D44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試作を見比べ、引き算で決めた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検討したこと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1945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試した案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19456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決めたこと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534094"/>
            <a:ext cx="10817352" cy="15875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79191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最初の画面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697479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波紋の図／点の集まり／人の写真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679191"/>
            <a:ext cx="405079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本物の水面に一滴が落ちる動き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140773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28269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人の表し方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300984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写真／指紋／筆文字／シルエット／アイコン6種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282696"/>
            <a:ext cx="405079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2色の人のアイコン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744277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886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人とAIの図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904487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掛け算の帯／2つの円の重なり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886200"/>
            <a:ext cx="405079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円の重なり（透けて見える形）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347781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48970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50799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青×橙／青×黄／青紫×桃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489704"/>
            <a:ext cx="405079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青ひとつ。</a:t>
            </a:r>
          </a:p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色は下層ページの冒頭で足す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189029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33095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写真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5349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夜景／工場／職人の手 など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5330952"/>
            <a:ext cx="405079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人が写る写真</a:t>
            </a:r>
          </a:p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（交差点・頂上の人たち）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6030277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621792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24回の改版。毎回、画面を撮って手本と並べて確認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57784"/>
            <a:ext cx="73152" cy="73152"/>
          </a:xfrm>
          <a:prstGeom prst="ellipse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589597"/>
            <a:ext cx="274320" cy="9525"/>
          </a:xfrm>
          <a:prstGeom prst="rect">
            <a:avLst/>
          </a:prstGeom>
          <a:solidFill>
            <a:srgbClr val="5F66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8488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デザインの方針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429768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JIL</a:t>
            </a:r>
          </a:p>
        </p:txBody>
      </p:sp>
      <p:sp>
        <p:nvSpPr>
          <p:cNvPr id="7" name="Oval 6"/>
          <p:cNvSpPr/>
          <p:nvPr/>
        </p:nvSpPr>
        <p:spPr>
          <a:xfrm>
            <a:off x="11402568" y="630936"/>
            <a:ext cx="68580" cy="68580"/>
          </a:xfrm>
          <a:prstGeom prst="ellipse">
            <a:avLst/>
          </a:prstGeom>
          <a:solidFill>
            <a:srgbClr val="2D44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白と墨に、青をひとつ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94560"/>
            <a:ext cx="457200" cy="457200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1762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450591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ja-JP">
                <a:solidFill>
                  <a:srgbClr val="5F6670"/>
                </a:solidFill>
                <a:effectLst/>
                <a:latin typeface="Consolas"/>
                <a:ea typeface="Consolas"/>
                <a:cs typeface="Consolas"/>
              </a:rPr>
              <a:t>#0E1013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24942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文字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779776"/>
            <a:ext cx="457200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761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03580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ja-JP">
                <a:solidFill>
                  <a:srgbClr val="5F6670"/>
                </a:solidFill>
                <a:effectLst/>
                <a:latin typeface="Consolas"/>
                <a:ea typeface="Consolas"/>
                <a:cs typeface="Consolas"/>
              </a:rPr>
              <a:t>#F1F2F4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8346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364992"/>
            <a:ext cx="457200" cy="457200"/>
          </a:xfrm>
          <a:prstGeom prst="rect">
            <a:avLst/>
          </a:prstGeom>
          <a:solidFill>
            <a:srgbClr val="2D44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34670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621024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ja-JP">
                <a:solidFill>
                  <a:srgbClr val="5F6670"/>
                </a:solidFill>
                <a:effectLst/>
                <a:latin typeface="Consolas"/>
                <a:ea typeface="Consolas"/>
                <a:cs typeface="Consolas"/>
              </a:rPr>
              <a:t>#2D44E0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41985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強調と「人」の印だけ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015422"/>
            <a:ext cx="4343400" cy="15875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33088"/>
            <a:ext cx="434340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動きは最初の画面の水面と、</a:t>
            </a:r>
          </a:p>
          <a:p>
            <a:pPr algn="l">
              <a:lnSpc>
                <a:spcPct val="120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図ができあがる動きに絞る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823269"/>
            <a:ext cx="434340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937760"/>
            <a:ext cx="4343400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写真は「人が写るもの」だけ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353621"/>
            <a:ext cx="434340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468112"/>
            <a:ext cx="434340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英字は Satoshi、</a:t>
            </a:r>
          </a:p>
          <a:p>
            <a:pPr algn="l">
              <a:lnSpc>
                <a:spcPct val="120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日本語は Zen Kaku Gothic New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6158293"/>
            <a:ext cx="434340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corp_new_top_f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194560"/>
            <a:ext cx="6153912" cy="3846195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5349240" y="6080760"/>
            <a:ext cx="6153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新しいトップページの最初の画面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57784"/>
            <a:ext cx="73152" cy="73152"/>
          </a:xfrm>
          <a:prstGeom prst="ellipse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589597"/>
            <a:ext cx="274320" cy="9525"/>
          </a:xfrm>
          <a:prstGeom prst="rect">
            <a:avLst/>
          </a:prstGeom>
          <a:solidFill>
            <a:srgbClr val="5F66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8488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サイトツリー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429768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JIL</a:t>
            </a:r>
          </a:p>
        </p:txBody>
      </p:sp>
      <p:sp>
        <p:nvSpPr>
          <p:cNvPr id="7" name="Oval 6"/>
          <p:cNvSpPr/>
          <p:nvPr/>
        </p:nvSpPr>
        <p:spPr>
          <a:xfrm>
            <a:off x="11402568" y="630936"/>
            <a:ext cx="68580" cy="68580"/>
          </a:xfrm>
          <a:prstGeom prst="ellipse">
            <a:avLst/>
          </a:prstGeom>
          <a:solidFill>
            <a:srgbClr val="2D44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トップ＋5ページ＋専用サイト1つ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813048"/>
            <a:ext cx="1600200" cy="512064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813048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lang="ja-JP">
                <a:solidFill>
                  <a:srgbClr val="FFFFFF"/>
                </a:solidFill>
                <a:effectLst/>
                <a:latin typeface="Noto Sans JP"/>
                <a:ea typeface="Noto Sans JP"/>
                <a:cs typeface="Noto Sans JP"/>
              </a:rPr>
              <a:t>トップ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4062730"/>
            <a:ext cx="320040" cy="12700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99690" y="2331720"/>
            <a:ext cx="12700" cy="3200400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6040" y="2325369"/>
            <a:ext cx="320040" cy="12700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0" y="2121408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E101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2121408"/>
            <a:ext cx="2240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私たちについて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2874009"/>
            <a:ext cx="320040" cy="12700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2670048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E101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2670048"/>
            <a:ext cx="2240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プロダクト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3422650"/>
            <a:ext cx="320040" cy="12700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26080" y="3218688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5F66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3218688"/>
            <a:ext cx="2240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サービス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40" y="4519930"/>
            <a:ext cx="320040" cy="12700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26080" y="4315968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E101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4315968"/>
            <a:ext cx="2240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メンバー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5022850"/>
            <a:ext cx="320040" cy="12700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26080" y="4818888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E101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4818888"/>
            <a:ext cx="2240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ニュース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40" y="5525770"/>
            <a:ext cx="320040" cy="12700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26080" y="5321807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E101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5321807"/>
            <a:ext cx="2240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お問い合わせ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675887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押せない見出し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66360" y="3422650"/>
            <a:ext cx="228600" cy="12700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88610" y="3429000"/>
            <a:ext cx="12700" cy="548639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94960" y="3422650"/>
            <a:ext cx="228600" cy="12700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23560" y="3218688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E101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3560" y="3218688"/>
            <a:ext cx="23317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新規事業開発支援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94960" y="3971289"/>
            <a:ext cx="228600" cy="12700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23560" y="3767327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E101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23560" y="3767327"/>
            <a:ext cx="23317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採用支援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60" y="2176272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ミッション・ビジョン／行動指針／スタイル／会社概要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4370832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ボードメンバー／チームメンバー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60" y="4873752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トップの中の欄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955279" y="3429000"/>
            <a:ext cx="777241" cy="0"/>
          </a:xfrm>
          <a:prstGeom prst="line">
            <a:avLst/>
          </a:prstGeom>
          <a:ln w="15875">
            <a:solidFill>
              <a:srgbClr val="2D44E0"/>
            </a:solidFill>
            <a:tailEnd type="triangle" w="med" len="med"/>
          </a:ln>
        </p:spPr>
      </p:cxnSp>
      <p:sp>
        <p:nvSpPr>
          <p:cNvPr id="44" name="Rectangle 43"/>
          <p:cNvSpPr/>
          <p:nvPr/>
        </p:nvSpPr>
        <p:spPr>
          <a:xfrm>
            <a:off x="8732520" y="3218688"/>
            <a:ext cx="2770631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2D44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32520" y="3218688"/>
            <a:ext cx="277063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専用サイト（サービスページ）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166360" y="5532120"/>
            <a:ext cx="3566160" cy="0"/>
          </a:xfrm>
          <a:prstGeom prst="line">
            <a:avLst/>
          </a:prstGeom>
          <a:ln w="15875">
            <a:solidFill>
              <a:srgbClr val="2D44E0"/>
            </a:solidFill>
            <a:tailEnd type="triangle" w="med" len="med"/>
          </a:ln>
        </p:spPr>
      </p:cxnSp>
      <p:sp>
        <p:nvSpPr>
          <p:cNvPr id="47" name="Rectangle 46"/>
          <p:cNvSpPr/>
          <p:nvPr/>
        </p:nvSpPr>
        <p:spPr>
          <a:xfrm>
            <a:off x="8732520" y="5321807"/>
            <a:ext cx="2770631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2D44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32520" y="5321807"/>
            <a:ext cx="277063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お問い合わせフォーム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4663440"/>
            <a:ext cx="27706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300" b="0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青の枠：別のタブで開く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5943600"/>
            <a:ext cx="10817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メニューは「プロダクト」と「サービス」に分け、自社のプロダクトとお客様向けのサービスを見分けやすくした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6355080"/>
            <a:ext cx="9628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ページの住所は今の会社サイトと同じ形（/about/、/product/ など）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57784"/>
            <a:ext cx="73152" cy="73152"/>
          </a:xfrm>
          <a:prstGeom prst="ellipse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589597"/>
            <a:ext cx="274320" cy="9525"/>
          </a:xfrm>
          <a:prstGeom prst="rect">
            <a:avLst/>
          </a:prstGeom>
          <a:solidFill>
            <a:srgbClr val="5F66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8488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トップページの流れ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429768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JIL</a:t>
            </a:r>
          </a:p>
        </p:txBody>
      </p:sp>
      <p:sp>
        <p:nvSpPr>
          <p:cNvPr id="7" name="Oval 6"/>
          <p:cNvSpPr/>
          <p:nvPr/>
        </p:nvSpPr>
        <p:spPr>
          <a:xfrm>
            <a:off x="11402568" y="630936"/>
            <a:ext cx="68580" cy="68580"/>
          </a:xfrm>
          <a:prstGeom prst="ellipse">
            <a:avLst/>
          </a:prstGeom>
          <a:solidFill>
            <a:srgbClr val="2D44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上から読むと「JILとは何か」がわかる順番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488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488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役割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88374"/>
            <a:ext cx="5074920" cy="15875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6946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最初の画面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6946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何の会社かを一言で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948749"/>
            <a:ext cx="507492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04495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2666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私たちについて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02666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想いと、やっていること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405949"/>
            <a:ext cx="507492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0215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8386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会社の構造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48386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人 → AI → 3つの事業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863149"/>
            <a:ext cx="507492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95935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94106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3つの事業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94106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各事業ページへの入口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320349"/>
            <a:ext cx="507492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41655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39826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人とAI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39826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働き方の考え方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777549"/>
            <a:ext cx="507492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87375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85546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JILをつくる人たち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85546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役員3名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5234749"/>
            <a:ext cx="507492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33095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31266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ニュース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31266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会社の動き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5691949"/>
            <a:ext cx="507492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78815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576986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お問い合わせ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76986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採用・事業の2つの出口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6149149"/>
            <a:ext cx="507492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4" name="Picture 43" descr="corp_new_top_full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194560"/>
            <a:ext cx="5529100" cy="3767328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45" name="TextBox 44"/>
          <p:cNvSpPr txBox="1"/>
          <p:nvPr/>
        </p:nvSpPr>
        <p:spPr>
          <a:xfrm>
            <a:off x="5989320" y="6035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トップページ全体（縦に長いページを3つに分けて並べたもの）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57784"/>
            <a:ext cx="73152" cy="73152"/>
          </a:xfrm>
          <a:prstGeom prst="ellipse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589597"/>
            <a:ext cx="274320" cy="9525"/>
          </a:xfrm>
          <a:prstGeom prst="rect">
            <a:avLst/>
          </a:prstGeom>
          <a:solidFill>
            <a:srgbClr val="5F66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8488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各ページの役割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429768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JIL</a:t>
            </a:r>
          </a:p>
        </p:txBody>
      </p:sp>
      <p:sp>
        <p:nvSpPr>
          <p:cNvPr id="7" name="Oval 6"/>
          <p:cNvSpPr/>
          <p:nvPr/>
        </p:nvSpPr>
        <p:spPr>
          <a:xfrm>
            <a:off x="11402568" y="630936"/>
            <a:ext cx="68580" cy="68580"/>
          </a:xfrm>
          <a:prstGeom prst="ellipse">
            <a:avLst/>
          </a:prstGeom>
          <a:solidFill>
            <a:srgbClr val="2D44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下層ページは同じ型で、役割を分ける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0116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ページ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011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役割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0116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主な中身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332926"/>
            <a:ext cx="10817352" cy="15875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corp_new_about_f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04872"/>
            <a:ext cx="1005840" cy="630936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920240" y="2404872"/>
            <a:ext cx="2194560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私たちについて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404872"/>
            <a:ext cx="3291840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考え方を伝える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404872"/>
            <a:ext cx="3913631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社名の由来／ミッション・ビジョン／</a:t>
            </a:r>
          </a:p>
          <a:p>
            <a:pPr algn="l">
              <a:lnSpc>
                <a:spcPct val="120000"/>
              </a:lnSpc>
            </a:pPr>
            <a:r>
              <a:rPr sz="14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行動指針／スタイル／会社概要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095053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corp_new_product_f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63824"/>
            <a:ext cx="1005840" cy="630936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1920240" y="3163824"/>
            <a:ext cx="2194560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プロダクト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163824"/>
            <a:ext cx="3291840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自分たちでつくっている証拠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163824"/>
            <a:ext cx="3913631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4つのプロダクト／自社でつくる理由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854005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corp_new_bizdev_f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22776"/>
            <a:ext cx="1005840" cy="630936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1920240" y="3922776"/>
            <a:ext cx="2194560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新規事業開発支援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922776"/>
            <a:ext cx="3291840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強みだけ見せ、専用サイトへ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922776"/>
            <a:ext cx="3913631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見極める・つくる・動かす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612957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corp_new_recruit_f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681728"/>
            <a:ext cx="1005840" cy="630936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1920240" y="4681728"/>
            <a:ext cx="2194560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採用支援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681728"/>
            <a:ext cx="3291840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専用サイトがないので、</a:t>
            </a:r>
          </a:p>
          <a:p>
            <a:pPr algn="l">
              <a:lnSpc>
                <a:spcPct val="115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ここで全部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4681728"/>
            <a:ext cx="3913631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考え方／よくあるお悩み／</a:t>
            </a:r>
          </a:p>
          <a:p>
            <a:pPr algn="l">
              <a:lnSpc>
                <a:spcPct val="120000"/>
              </a:lnSpc>
            </a:pPr>
            <a:r>
              <a:rPr sz="14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支援の流れ6工程／FAQ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371909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corp_new_member_f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440680"/>
            <a:ext cx="1005840" cy="630936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1920240" y="5440680"/>
            <a:ext cx="2194560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メンバー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5440680"/>
            <a:ext cx="3291840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人の顔が見える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5440680"/>
            <a:ext cx="3913631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役員3名／チームの職種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6130861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6355080"/>
            <a:ext cx="9628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冒頭は共通の型：大きな英字の見出し（About. など）＋線の背景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57784"/>
            <a:ext cx="73152" cy="73152"/>
          </a:xfrm>
          <a:prstGeom prst="ellipse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589597"/>
            <a:ext cx="274320" cy="9525"/>
          </a:xfrm>
          <a:prstGeom prst="rect">
            <a:avLst/>
          </a:prstGeom>
          <a:solidFill>
            <a:srgbClr val="5F66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8488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導線の設計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429768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JIL</a:t>
            </a:r>
          </a:p>
        </p:txBody>
      </p:sp>
      <p:sp>
        <p:nvSpPr>
          <p:cNvPr id="7" name="Oval 6"/>
          <p:cNvSpPr/>
          <p:nvPr/>
        </p:nvSpPr>
        <p:spPr>
          <a:xfrm>
            <a:off x="11402568" y="630936"/>
            <a:ext cx="68580" cy="68580"/>
          </a:xfrm>
          <a:prstGeom prst="ellipse">
            <a:avLst/>
          </a:prstGeom>
          <a:solidFill>
            <a:srgbClr val="2D44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どのページからも、次の行き先がある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86622"/>
            <a:ext cx="6766560" cy="15875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50008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322576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全ページ共通のメニュー。中の欄まで直接行ける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29877"/>
            <a:ext cx="676656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90087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62656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下層ページの最後に「次のページへ」。5ページを一周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469957"/>
            <a:ext cx="676656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30168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602736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お問い合わせは、どこからでも1回押せばフォームへ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10037"/>
            <a:ext cx="676656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corp_new_about_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2194560"/>
            <a:ext cx="3200400" cy="200025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8302752" y="42245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下層ページの最後の「次のページへ」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72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読み手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572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たどる道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893246"/>
            <a:ext cx="10817352" cy="15875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99262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発注を考える企業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992624"/>
            <a:ext cx="84399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トップ</a:t>
            </a: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  →  </a:t>
            </a:r>
            <a:r>
              <a:rPr sz="16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サービス</a:t>
            </a: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  →  </a:t>
            </a:r>
            <a:r>
              <a:rPr sz="16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新規事業開発支援</a:t>
            </a: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  →  </a:t>
            </a:r>
            <a:r>
              <a:rPr sz="16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専用サイト</a:t>
            </a: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  →  </a:t>
            </a:r>
            <a:r>
              <a:rPr sz="16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相談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353621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4982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一緒に働きたい人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5449824"/>
            <a:ext cx="84399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トップ</a:t>
            </a: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  →  </a:t>
            </a:r>
            <a:r>
              <a:rPr sz="16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私たちについて</a:t>
            </a: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  →  </a:t>
            </a:r>
            <a:r>
              <a:rPr sz="16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メンバー</a:t>
            </a: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  →  </a:t>
            </a:r>
            <a:r>
              <a:rPr sz="16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採用のお問い合わせ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5810821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90702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取引先・関係者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5907024"/>
            <a:ext cx="84399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トップ</a:t>
            </a: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  →  </a:t>
            </a:r>
            <a:r>
              <a:rPr sz="16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私たちについて</a:t>
            </a: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  →  </a:t>
            </a:r>
            <a:r>
              <a:rPr sz="16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会社概要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6268021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57784"/>
            <a:ext cx="73152" cy="73152"/>
          </a:xfrm>
          <a:prstGeom prst="ellipse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589597"/>
            <a:ext cx="274320" cy="9525"/>
          </a:xfrm>
          <a:prstGeom prst="rect">
            <a:avLst/>
          </a:prstGeom>
          <a:solidFill>
            <a:srgbClr val="5F66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8488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スマホと使いやすさ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429768"/>
            <a:ext cx="786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8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JIL</a:t>
            </a:r>
          </a:p>
        </p:txBody>
      </p:sp>
      <p:sp>
        <p:nvSpPr>
          <p:cNvPr id="7" name="Oval 6"/>
          <p:cNvSpPr/>
          <p:nvPr/>
        </p:nvSpPr>
        <p:spPr>
          <a:xfrm>
            <a:off x="11402568" y="630936"/>
            <a:ext cx="68580" cy="68580"/>
          </a:xfrm>
          <a:prstGeom prst="ellipse">
            <a:avLst/>
          </a:prstGeom>
          <a:solidFill>
            <a:srgbClr val="2D44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スマホでも、同じ内容を同じ質で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86622"/>
            <a:ext cx="6309360" cy="15875"/>
          </a:xfrm>
          <a:prstGeom prst="rect">
            <a:avLst/>
          </a:prstGeom>
          <a:solidFill>
            <a:srgbClr val="0E10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メニュー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350008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どの位置からでも開く、全画面のメニュー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84741"/>
            <a:ext cx="630936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7238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速さ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30449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書体を共通化し、写真を圧縮して表示を軽く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579685"/>
            <a:ext cx="630936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6732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読みやすさ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739896"/>
            <a:ext cx="48463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iPhoneでも言葉の途中で改行しない。</a:t>
            </a:r>
          </a:p>
          <a:p>
            <a:pPr algn="l">
              <a:lnSpc>
                <a:spcPct val="120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補足の文字の濃さを基準に合わせる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475797"/>
            <a:ext cx="630936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634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共有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636008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シェア画像・説明文を設定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170741"/>
            <a:ext cx="630936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35838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lang="ja-JP">
                <a:solidFill>
                  <a:srgbClr val="2D44E0"/>
                </a:solidFill>
                <a:effectLst/>
                <a:latin typeface="Noto Sans JP"/>
                <a:ea typeface="Noto Sans JP"/>
                <a:cs typeface="Noto Sans JP"/>
              </a:rPr>
              <a:t>確認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330952"/>
            <a:ext cx="48463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6ページ×スマホ・パソコンで、</a:t>
            </a:r>
          </a:p>
          <a:p>
            <a:pPr algn="l">
              <a:lnSpc>
                <a:spcPct val="120000"/>
              </a:lnSpc>
            </a:pPr>
            <a:r>
              <a:rPr sz="1800" b="0" lang="ja-JP">
                <a:solidFill>
                  <a:srgbClr val="0E1013"/>
                </a:solidFill>
                <a:effectLst/>
                <a:latin typeface="Noto Sans JP"/>
                <a:ea typeface="Noto Sans JP"/>
                <a:cs typeface="Noto Sans JP"/>
              </a:rPr>
              <a:t>表示崩れ・リンク切れを自動チェック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6066853"/>
            <a:ext cx="630936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corp_new_sp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359" y="2194560"/>
            <a:ext cx="1732376" cy="3749039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7718359" y="6007607"/>
            <a:ext cx="2006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最初の画面</a:t>
            </a:r>
          </a:p>
        </p:txBody>
      </p:sp>
      <p:pic>
        <p:nvPicPr>
          <p:cNvPr id="27" name="Picture 26" descr="corp_new_sp_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0775" y="2194560"/>
            <a:ext cx="1732376" cy="3749039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9770775" y="6007607"/>
            <a:ext cx="2006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lang="ja-JP">
                <a:solidFill>
                  <a:srgbClr val="5F6670"/>
                </a:solidFill>
                <a:effectLst/>
                <a:latin typeface="Noto Sans JP"/>
                <a:ea typeface="Noto Sans JP"/>
                <a:cs typeface="Noto Sans JP"/>
              </a:rPr>
              <a:t>途中から開いたメニュー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ans JP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JP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