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Relationship Id="rId9" Type="http://schemas.openxmlformats.org/officeDocument/2006/relationships/image" Target="../media/image2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誰に向けたページか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65344" y="1453896"/>
            <a:ext cx="2817368" cy="201168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大企業の新規事業部門の担当者・責任者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8875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立場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43822"/>
            <a:ext cx="4389120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社内の審査や上司に、</a:t>
            </a:r>
          </a:p>
          <a:p>
            <a:pPr algn="l">
              <a:lnSpc>
                <a:spcPct val="135000"/>
              </a:lnSpc>
            </a:pPr>
            <a:r>
              <a:rPr sz="2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依頼先を説明する立場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976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ゴール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709160"/>
            <a:ext cx="3657600" cy="566928"/>
          </a:xfrm>
          <a:prstGeom prst="roundRect">
            <a:avLst>
              <a:gd name="adj" fmla="val 50000"/>
            </a:avLst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4709160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30分の無料相談の予約</a:t>
            </a:r>
          </a:p>
        </p:txBody>
      </p:sp>
      <p:sp>
        <p:nvSpPr>
          <p:cNvPr id="14" name="Oval 13"/>
          <p:cNvSpPr/>
          <p:nvPr/>
        </p:nvSpPr>
        <p:spPr>
          <a:xfrm>
            <a:off x="3858768" y="4791456"/>
            <a:ext cx="402336" cy="40233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79145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FFF000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240280"/>
            <a:ext cx="5650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よくある悩み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2643822"/>
            <a:ext cx="5650992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2651760"/>
            <a:ext cx="5650992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事業計画が、社内の審査を通らない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3698557"/>
            <a:ext cx="565099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3703320"/>
            <a:ext cx="5650992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つくれる人が社内にいない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4750117"/>
            <a:ext cx="565099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4754880"/>
            <a:ext cx="5650992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リリース後に、売る人・回す人が足りない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5801677"/>
            <a:ext cx="565099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競合の捉え方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14143" y="1453896"/>
            <a:ext cx="3131058" cy="201168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競合は4グループ・39社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8875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323782"/>
            <a:ext cx="10817352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238429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国内の</a:t>
            </a:r>
          </a:p>
          <a:p>
            <a:pPr algn="l">
              <a:lnSpc>
                <a:spcPct val="120000"/>
              </a:lnSpc>
            </a:pP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新規事業コンサル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23842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10</a:t>
            </a: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51960"/>
            <a:ext cx="23842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得意なところ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26280"/>
            <a:ext cx="23842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構想・検証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66360"/>
            <a:ext cx="23842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アルファドライブ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Relic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5375" y="2331720"/>
            <a:ext cx="9525" cy="35661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8738" y="2514600"/>
            <a:ext cx="238429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AI×事業開発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8738" y="3246120"/>
            <a:ext cx="23842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10</a:t>
            </a: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8738" y="4251960"/>
            <a:ext cx="23842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得意なところ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8738" y="4526280"/>
            <a:ext cx="23842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AIでの開発・効率化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8738" y="5166360"/>
            <a:ext cx="23842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Algomatic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エクサウィザーズ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9713" y="2331720"/>
            <a:ext cx="9525" cy="35661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3076" y="2514600"/>
            <a:ext cx="238429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業務設計・伴走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3076" y="3246120"/>
            <a:ext cx="23842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10</a:t>
            </a: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3076" y="4251960"/>
            <a:ext cx="23842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得意なところ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6" y="4526280"/>
            <a:ext cx="23842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営業・マーケの実行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6" y="5166360"/>
            <a:ext cx="23842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Zingth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才流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94051" y="2331720"/>
            <a:ext cx="9525" cy="35661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27414" y="2514600"/>
            <a:ext cx="238429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海外の</a:t>
            </a:r>
          </a:p>
          <a:p>
            <a:pPr algn="l">
              <a:lnSpc>
                <a:spcPct val="120000"/>
              </a:lnSpc>
            </a:pP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事業開発スタジオ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7414" y="3246120"/>
            <a:ext cx="23842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10</a:t>
            </a: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7414" y="4251960"/>
            <a:ext cx="23842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得意なところ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27414" y="4526280"/>
            <a:ext cx="23842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構想から立ち上げまで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27414" y="5166360"/>
            <a:ext cx="23842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Bundl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IDEO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82512"/>
            <a:ext cx="9720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※アルファドライブは2グループに入るため、合計39社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業界の「当たり前」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どの会社も「一気通貫・伴走」を掲げている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108173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実際は工程ごとに得意な会社が分かれている。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依頼する側は会社を分けて頼むことになり、つなぎ目で止まりやすい。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20440"/>
            <a:ext cx="30175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74903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7763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戦略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891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コンサル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4023360"/>
            <a:ext cx="8823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0">
                <a:solidFill>
                  <a:srgbClr val="A3A3A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4025646" y="5394960"/>
            <a:ext cx="237744" cy="237744"/>
          </a:xfrm>
          <a:prstGeom prst="ellipse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5646" y="539496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79" y="5715000"/>
            <a:ext cx="19796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止まりやすい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85716" y="3520440"/>
            <a:ext cx="30175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5716" y="374903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5716" y="397763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開発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5716" y="43891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開発会社・AIベンダー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3236" y="4023360"/>
            <a:ext cx="8823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0">
                <a:solidFill>
                  <a:srgbClr val="A3A3A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7925562" y="5394960"/>
            <a:ext cx="237744" cy="237744"/>
          </a:xfrm>
          <a:prstGeom prst="ellipse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5562" y="539496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4596" y="5715000"/>
            <a:ext cx="19796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止まりやすい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85632" y="3520440"/>
            <a:ext cx="30175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374903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397763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実行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43891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営業・マーケ会社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JILの立ち位置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8944" y="1453896"/>
            <a:ext cx="2817368" cy="201168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戦略・開発・実行を、ひとつのチームで受ける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8875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pic>
        <p:nvPicPr>
          <p:cNvPr id="8" name="Picture 7" descr="ve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185" y="2194560"/>
            <a:ext cx="4183966" cy="3931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3146742"/>
            <a:ext cx="5852160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7472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描いて終わり、つくって終わりにしない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5852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事業が立ち上がり、伸びるまで伴走する。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ページでは3つの円の図で見せ、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他社との比較表は使わない。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訴求ポイント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39744" y="1453896"/>
            <a:ext cx="2817368" cy="201168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3744" y="1453896"/>
            <a:ext cx="1598168" cy="201168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打ち出すのは「審査する側の目」と「人材まで」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8875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他社もよく言うこと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2402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JILの打ち出し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240280"/>
            <a:ext cx="4050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根拠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43822"/>
            <a:ext cx="10817352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51760"/>
            <a:ext cx="23774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実践者が支援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651760"/>
            <a:ext cx="42062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審査する側の目で見極める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651760"/>
            <a:ext cx="4050791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役員の事業審査 年1,500件超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88245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93008"/>
            <a:ext cx="23774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開発まで対応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493008"/>
            <a:ext cx="42062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本番のプロダクトまでつくる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493008"/>
            <a:ext cx="4050791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新規サービスの立ち上げ 年10件以上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329493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334256"/>
            <a:ext cx="23774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伴走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334256"/>
            <a:ext cx="42062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売る人・回す人までアサイン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334256"/>
            <a:ext cx="4050791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常駐・業務委託で参加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170741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175504"/>
            <a:ext cx="23774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AIを活用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5175504"/>
            <a:ext cx="42062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AIは前に出さず、全工程で使う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5175504"/>
            <a:ext cx="4050791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工程ごとの活用例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011989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ページ全体の構成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6つの欄で構成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32342"/>
            <a:ext cx="5852160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最初の画面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240280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キャッチとロゴ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893885"/>
            <a:ext cx="585216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9864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98648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コンセプト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898648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JILの立ち位置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552253"/>
            <a:ext cx="585216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570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557016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特徴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557016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見極める・つくる・動かす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210621"/>
            <a:ext cx="585216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15384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事業づくりの流れ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215384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支援の範囲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868989"/>
            <a:ext cx="585216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87375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73752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事業開発×AI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873752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進め方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527357"/>
            <a:ext cx="585216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53212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532120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ご相談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532120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30分の無料相談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6185725"/>
            <a:ext cx="585216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ull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131" y="2240280"/>
            <a:ext cx="2020710" cy="336785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33" name="Picture 32" descr="full_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441" y="2240280"/>
            <a:ext cx="2020710" cy="395020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入れなかったもの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同業の定番は使わない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使わないもの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代わりに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43822"/>
            <a:ext cx="10817352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trike="sngStrike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「お悩みありませんか」の箱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65176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A3A3A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651760"/>
            <a:ext cx="5486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流れの各ステップで答える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424237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2900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trike="sngStrike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他社との比較表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42900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A3A3A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429000"/>
            <a:ext cx="5486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3つの円の図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201477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trike="sngStrike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実績数字の帯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20624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A3A3A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4206240"/>
            <a:ext cx="5486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ロゴと役員の経験の数字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978717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98348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trike="sngStrike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顔写真・料金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98348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A3A3A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4983480"/>
            <a:ext cx="5486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相談の場で説明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755957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03504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※お客様インタビュー（5社）は、取材後に追加する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最初の画面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戦略から、実行まで。新規事業を、ひとつのチームで。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32342"/>
            <a:ext cx="3291840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写真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エスカレーターを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行き交う人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561397"/>
            <a:ext cx="32918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7490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ロゴ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ご支援企業6社を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すぐ下に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887277"/>
            <a:ext cx="32918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074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ボタン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4924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30分の無料相談</a:t>
            </a:r>
          </a:p>
        </p:txBody>
      </p:sp>
      <p:pic>
        <p:nvPicPr>
          <p:cNvPr id="16" name="Picture 15" descr="page_pc_f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2240280"/>
            <a:ext cx="6364223" cy="397763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JILの特徴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見極める・つくる・動かす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103120"/>
            <a:ext cx="12191695" cy="324612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戦略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見極める</a:t>
            </a:r>
          </a:p>
        </p:txBody>
      </p:sp>
      <p:pic>
        <p:nvPicPr>
          <p:cNvPr id="10" name="Picture 9" descr="icon_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880" y="2423160"/>
            <a:ext cx="740664" cy="822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3474720"/>
            <a:ext cx="3148584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1,500</a:t>
            </a: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件超／年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7200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役員が携わってきた事業審査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6821" y="2377440"/>
            <a:ext cx="9525" cy="30632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5904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開発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26974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つくる</a:t>
            </a:r>
          </a:p>
        </p:txBody>
      </p:sp>
      <p:pic>
        <p:nvPicPr>
          <p:cNvPr id="16" name="Picture 15" descr="icon_m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924" y="2423160"/>
            <a:ext cx="946404" cy="822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65904" y="3474720"/>
            <a:ext cx="3148584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10</a:t>
            </a: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件以上／年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5904" y="457200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立ち上げてきた新規サービス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92605" y="2377440"/>
            <a:ext cx="9525" cy="30632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1688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実行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1688" y="26974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動かす</a:t>
            </a:r>
          </a:p>
        </p:txBody>
      </p:sp>
      <p:pic>
        <p:nvPicPr>
          <p:cNvPr id="22" name="Picture 21" descr="icon_mo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412" y="2423160"/>
            <a:ext cx="1028700" cy="8229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71688" y="3474720"/>
            <a:ext cx="3148584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人材まで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1688" y="457200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仕組みづくりと人材のアサイン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6072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※数字は会社の実績ではなく、役員の経験として出す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事業づくりの流れ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05373" y="1453896"/>
            <a:ext cx="2410968" cy="201168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4つのステップと土台で、立ち上げ全体を支援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8875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32342"/>
            <a:ext cx="4206240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ステップ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構想する → 確かめる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→ つくる → 立ち上げ・伸ばす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61397"/>
            <a:ext cx="42062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490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土台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2336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組織づくり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起案制度・カルチャー・研修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887277"/>
            <a:ext cx="42062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749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依頼の仕方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4924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どのステップからでも依頼できる</a:t>
            </a:r>
          </a:p>
        </p:txBody>
      </p:sp>
      <p:pic>
        <p:nvPicPr>
          <p:cNvPr id="17" name="Picture 16" descr="flow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211" y="2240280"/>
            <a:ext cx="5156939" cy="397763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事業開発×AI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AIは前に出さず、進め方として見せる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キャッチには入れず、ページの後半で「進め方」として紹介する。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同業はAIを新メニューとして足す形が多い。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283902"/>
            <a:ext cx="10817352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i_icon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11880"/>
            <a:ext cx="1806854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4709160"/>
            <a:ext cx="23385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高速に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212080"/>
            <a:ext cx="24300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例：試作画面を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翌日に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5375" y="3291840"/>
            <a:ext cx="9525" cy="2743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i_icon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458" y="3611880"/>
            <a:ext cx="2076844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64458" y="4709160"/>
            <a:ext cx="23385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大量に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4458" y="5212080"/>
            <a:ext cx="24300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例：LP・広告を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50パターンで検証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713" y="3291840"/>
            <a:ext cx="9525" cy="2743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i_icon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796" y="3611880"/>
            <a:ext cx="1752872" cy="868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68796" y="4709160"/>
            <a:ext cx="23385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網羅的に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8796" y="5212080"/>
            <a:ext cx="24300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例：競合・市場を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数百社規模で調査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94051" y="3291840"/>
            <a:ext cx="9525" cy="2743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i_icon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3134" y="3611880"/>
            <a:ext cx="2316480" cy="8686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73134" y="4709160"/>
            <a:ext cx="23385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自動的に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3134" y="5212080"/>
            <a:ext cx="24300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例：問い合わせ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対応を自動で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82512"/>
            <a:ext cx="9720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※例は支援内容の一例。期間や数量は案件によって異なる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デザイン調査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39744" y="1453896"/>
            <a:ext cx="1191768" cy="201168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同業の半分は「白×青」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8875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同業24社と、デザインの評価が高いサイト30件を撮影して比較した。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白×青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3756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24社中12社</a:t>
            </a:r>
          </a:p>
        </p:txBody>
      </p:sp>
      <p:pic>
        <p:nvPicPr>
          <p:cNvPr id="11" name="Picture 10" descr="co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926080"/>
            <a:ext cx="2100834" cy="131302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12" name="Picture 11" descr="comp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466" y="2926080"/>
            <a:ext cx="2100834" cy="131302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13" name="Picture 12" descr="comp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892" y="2926080"/>
            <a:ext cx="2100834" cy="131302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14" name="Picture 13" descr="comp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2318" y="2926080"/>
            <a:ext cx="2100834" cy="131302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85800" y="446770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ぼかし・球体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24901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AI系の会社に多い</a:t>
            </a:r>
          </a:p>
        </p:txBody>
      </p:sp>
      <p:pic>
        <p:nvPicPr>
          <p:cNvPr id="17" name="Picture 16" descr="comp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40" y="4513421"/>
            <a:ext cx="2100834" cy="131302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18" name="Picture 17" descr="comp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1466" y="4513421"/>
            <a:ext cx="2100834" cy="131302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19" name="Picture 18" descr="comp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6892" y="4513421"/>
            <a:ext cx="2100834" cy="131302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20" name="Picture 19" descr="comp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2318" y="4513421"/>
            <a:ext cx="2100834" cy="131302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685800" y="6382512"/>
            <a:ext cx="9720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出典：アルファドライブ／ボーンレックス／ゼロワンブースター／TimeSkip／Algomatic／NEWh／エクサウィザーズ／SUNDRED 各社サイト（2026/10/16・19 撮影）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手本にした4サイト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手本はBundl・Hexa・Coral Capital・PKSHA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pic>
        <p:nvPicPr>
          <p:cNvPr id="7" name="Picture 6" descr="bundl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2560320" cy="16002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520439" y="2468880"/>
            <a:ext cx="23454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Bundl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2926080"/>
            <a:ext cx="23454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文字と余白で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見せる</a:t>
            </a:r>
          </a:p>
        </p:txBody>
      </p:sp>
      <p:pic>
        <p:nvPicPr>
          <p:cNvPr id="10" name="Picture 9" descr="hexa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2331720"/>
            <a:ext cx="2560320" cy="16002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9157716" y="2468880"/>
            <a:ext cx="23454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Hexa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57716" y="2926080"/>
            <a:ext cx="23454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0→1→10を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線画で</a:t>
            </a:r>
          </a:p>
        </p:txBody>
      </p:sp>
      <p:pic>
        <p:nvPicPr>
          <p:cNvPr id="13" name="Picture 12" descr="coral_02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343400"/>
            <a:ext cx="2560320" cy="159837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3520439" y="4480560"/>
            <a:ext cx="23454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Coral Capital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39" y="4937760"/>
            <a:ext cx="23454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3つの柱を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重なる円で</a:t>
            </a:r>
          </a:p>
        </p:txBody>
      </p:sp>
      <p:pic>
        <p:nvPicPr>
          <p:cNvPr id="16" name="Picture 15" descr="pksha_00_cro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076" y="4343400"/>
            <a:ext cx="2560320" cy="159837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9157716" y="4480560"/>
            <a:ext cx="23454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PKSHA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7716" y="4937760"/>
            <a:ext cx="23454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白黒の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静かなトーン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82512"/>
            <a:ext cx="9720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出典：bundl.com／hexa.com／coralcap.co／pkshatech.com（2026/10/19 撮影）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デザインの方針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26944" y="1453896"/>
            <a:ext cx="785367" cy="201168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白と黒に、黄色をひとつ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8875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40280"/>
            <a:ext cx="1371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644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白  </a:t>
            </a:r>
            <a:r>
              <a:rPr sz="12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#FFFFFF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240280"/>
            <a:ext cx="1371600" cy="914400"/>
          </a:xfrm>
          <a:prstGeom prst="rect">
            <a:avLst/>
          </a:prstGeom>
          <a:solidFill>
            <a:srgbClr val="14141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32644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墨  </a:t>
            </a:r>
            <a:r>
              <a:rPr sz="12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#141414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240280"/>
            <a:ext cx="1371600" cy="914400"/>
          </a:xfrm>
          <a:prstGeom prst="rect">
            <a:avLst/>
          </a:prstGeom>
          <a:solidFill>
            <a:srgbClr val="FFF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32644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黄  </a:t>
            </a:r>
            <a:r>
              <a:rPr sz="12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#FFF000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878262"/>
            <a:ext cx="6949440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黄色は強調とボタンだけに使う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430077"/>
            <a:ext cx="69494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3484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写真は人が働く場面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978717"/>
            <a:ext cx="69494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98348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図は線で描く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527357"/>
            <a:ext cx="69494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5321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スマホでも同じ内容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075997"/>
            <a:ext cx="69494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age_sp_f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563" y="2240280"/>
            <a:ext cx="1901389" cy="41148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つくり方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574" y="1453896"/>
            <a:ext cx="3223768" cy="201168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約1週間、コードを書かずにここまで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8875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32342"/>
            <a:ext cx="10817352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2430018" cy="8686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39</a:t>
            </a: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37560"/>
            <a:ext cx="24300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競合を調査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5375" y="2240280"/>
            <a:ext cx="9525" cy="15544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8738" y="2423160"/>
            <a:ext cx="2430018" cy="8686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54</a:t>
            </a: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サイト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8738" y="3337560"/>
            <a:ext cx="24300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画面を撮影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713" y="2240280"/>
            <a:ext cx="9525" cy="15544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3076" y="2423160"/>
            <a:ext cx="2430018" cy="8686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23</a:t>
            </a: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3337560"/>
            <a:ext cx="24300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ページを改版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94051" y="2240280"/>
            <a:ext cx="9525" cy="15544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7414" y="2423160"/>
            <a:ext cx="2430018" cy="8686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7</a:t>
            </a: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日間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7414" y="3337560"/>
            <a:ext cx="24300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10/16〜10/22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160520"/>
            <a:ext cx="5180076" cy="178308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434840"/>
            <a:ext cx="45399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AIの担当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00600"/>
            <a:ext cx="453999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調査・撮影・分析、文言の案、</a:t>
            </a:r>
          </a:p>
          <a:p>
            <a:pPr algn="l">
              <a:lnSpc>
                <a:spcPct val="130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ページの制作、比較案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3076" y="4160520"/>
            <a:ext cx="5180076" cy="178308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3116" y="4434840"/>
            <a:ext cx="45399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人の担当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3116" y="4800600"/>
            <a:ext cx="453999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方針、手本の選定、</a:t>
            </a:r>
          </a:p>
          <a:p>
            <a:pPr algn="l">
              <a:lnSpc>
                <a:spcPct val="130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案の選択、文言の判断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進め方の型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28313" y="1453896"/>
            <a:ext cx="1598168" cy="201168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AIが案を出し、人が選ぶ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88752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32342"/>
            <a:ext cx="2155698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215569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調べる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74720"/>
            <a:ext cx="215569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実在のサイトを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撮影して分析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1498" y="27889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0">
                <a:solidFill>
                  <a:srgbClr val="A3A3A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3018" y="2232342"/>
            <a:ext cx="2155698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3018" y="24231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3018" y="2743200"/>
            <a:ext cx="215569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並べる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3018" y="3474720"/>
            <a:ext cx="215569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配色や写真を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複数案で見比べる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28716" y="27889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0">
                <a:solidFill>
                  <a:srgbClr val="A3A3A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0236" y="2221230"/>
            <a:ext cx="2155698" cy="381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0236" y="24231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743200"/>
            <a:ext cx="215569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選ぶ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3474720"/>
            <a:ext cx="215569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良い・いまいちを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人が決める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5934" y="27889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0">
                <a:solidFill>
                  <a:srgbClr val="A3A3A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47454" y="2232342"/>
            <a:ext cx="2155698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7454" y="24231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7454" y="2743200"/>
            <a:ext cx="215569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磨く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7454" y="3474720"/>
            <a:ext cx="215569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別の版で試し、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良ければ取り込む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892040"/>
            <a:ext cx="10817352" cy="100584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892040"/>
            <a:ext cx="10085832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ほかのページや資料づくりにも、同じ進め方が使える。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