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ページ番号"/>
          <p:cNvSpPr txBox="1"/>
          <p:nvPr userDrawn="1"/>
        </p:nvSpPr>
        <p:spPr>
          <a:xfrm>
            <a:off x="1058875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ja-JP" sz="1000">
                <a:solidFill>
                  <a:srgbClr val="6B6B6B"/>
                </a:solidFill>
                <a:latin typeface="Consola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誰に向けたページか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5344" y="1453896"/>
            <a:ext cx="28173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大企業の新規事業部門の担当者・責任者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立場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43822"/>
            <a:ext cx="438912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社内の審査や上司に、</a:t>
            </a:r>
          </a:p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依頼先を説明する立場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ゴール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04397"/>
            <a:ext cx="43891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30分の無料相談、</a:t>
            </a:r>
          </a:p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またはお問い合わせ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40280"/>
            <a:ext cx="5650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よくある悩み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643822"/>
            <a:ext cx="565099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651760"/>
            <a:ext cx="565099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事業計画が、社内の審査を通らない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698557"/>
            <a:ext cx="565099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3703320"/>
            <a:ext cx="565099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つくれる人が社内にいない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750117"/>
            <a:ext cx="565099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4754880"/>
            <a:ext cx="565099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リリース後に、売る人・回す人が足りない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5801677"/>
            <a:ext cx="565099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競合の捉え方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14143" y="1453896"/>
            <a:ext cx="224459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競合は4つのタイプに分かれる</a:t>
            </a:r>
          </a:p>
        </p:txBody>
      </p:sp>
      <p:pic>
        <p:nvPicPr>
          <p:cNvPr id="7" name="Picture 6" descr="typ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0280"/>
            <a:ext cx="2498598" cy="12492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3718179"/>
            <a:ext cx="24985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新規事業コンサル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5379"/>
            <a:ext cx="24985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大企業の新規事業を、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構想と検証から伴走する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902136"/>
            <a:ext cx="2498598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16627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主な企業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72659"/>
            <a:ext cx="24985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アルファドライブ／Relic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quantum／ボーンレックス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ユニコーンファーム　ほか</a:t>
            </a:r>
          </a:p>
        </p:txBody>
      </p:sp>
      <p:pic>
        <p:nvPicPr>
          <p:cNvPr id="13" name="Picture 12" descr="typ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18" y="2240280"/>
            <a:ext cx="2498598" cy="12492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458718" y="3718179"/>
            <a:ext cx="24985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AI×事業開発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8718" y="4175379"/>
            <a:ext cx="24985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AIの開発力を軸に、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事業づくりや業務を変える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8718" y="4902136"/>
            <a:ext cx="2498598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8718" y="5016627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主な企業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8718" y="5272659"/>
            <a:ext cx="24985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Algomatic／Sun*／AVILEN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エクサウィザーズ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リブ・コンサルティング　ほか</a:t>
            </a:r>
          </a:p>
        </p:txBody>
      </p:sp>
      <p:pic>
        <p:nvPicPr>
          <p:cNvPr id="19" name="Picture 18" descr="type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36" y="2240280"/>
            <a:ext cx="2498598" cy="12492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231636" y="3718179"/>
            <a:ext cx="24985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実行の伴走支援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1636" y="4175379"/>
            <a:ext cx="24985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立ち上げ後の営業・マーケ・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業務を、実行まで担う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902136"/>
            <a:ext cx="2498598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1636" y="5016627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主な企業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1636" y="5272659"/>
            <a:ext cx="24985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Zingth／才流／セレブリックス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SALES ROBOTICS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Acrosstudio　ほか</a:t>
            </a:r>
          </a:p>
        </p:txBody>
      </p:sp>
      <p:pic>
        <p:nvPicPr>
          <p:cNvPr id="25" name="Picture 24" descr="type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554" y="2240280"/>
            <a:ext cx="2498598" cy="124929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9004554" y="3718179"/>
            <a:ext cx="24985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海外の事業スタジオ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4554" y="4175379"/>
            <a:ext cx="24985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事業を一緒につくり、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市場で試すところまで担う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4554" y="4902136"/>
            <a:ext cx="2498598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4554" y="5016627"/>
            <a:ext cx="24985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主な企業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4554" y="5272659"/>
            <a:ext cx="24985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Bundl／IDEO／BCG X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Board of Innovation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Rainmaking　ほか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各タイプ10社・計39社を調査（アルファドライブは2タイプに該当）。画面は各タイプの1社目のサイト（2026/10/16・19 撮影）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業界の「当たり前」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どの会社も「一気通貫・伴走」を掲げている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8173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実際は工程ごとに得意な会社が分かれている。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依頼する側は会社を分けて頼むことになり、つなぎ目で止まりやすい。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2044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戦略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コンサル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023360"/>
            <a:ext cx="8823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025646" y="5394960"/>
            <a:ext cx="237744" cy="237744"/>
          </a:xfrm>
          <a:prstGeom prst="ellipse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5646" y="53949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5715000"/>
            <a:ext cx="19796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止まりやすい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5716" y="352044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716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716" y="39776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開発会社・AIベンダー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3236" y="4023360"/>
            <a:ext cx="8823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925562" y="5394960"/>
            <a:ext cx="237744" cy="237744"/>
          </a:xfrm>
          <a:prstGeom prst="ellipse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5562" y="53949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4596" y="5715000"/>
            <a:ext cx="19796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止まりやすい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3520440"/>
            <a:ext cx="3017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9776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実行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営業・マーケ会社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JILの立ち位置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8944" y="1453896"/>
            <a:ext cx="28173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戦略・開発・実行を、ひとつのチームで受ける</a:t>
            </a:r>
          </a:p>
        </p:txBody>
      </p:sp>
      <p:pic>
        <p:nvPicPr>
          <p:cNvPr id="7" name="Picture 6" descr="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185" y="2194560"/>
            <a:ext cx="4183966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3146742"/>
            <a:ext cx="585216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描いて終わり、つくって終わりにしない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事業が立ち上がり、伸びるまで伴走する。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ページでは3つの円の図で見せ、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他社との比較表は使わない。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訴求ポイント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39744" y="1453896"/>
            <a:ext cx="28173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3744" y="1453896"/>
            <a:ext cx="15981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打ち出すのは「審査する側の目」と「人材まで」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他社もよく言うこと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JILの打ち出し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240280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根拠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4382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実践者が支援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審査する側の目で見極める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651760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役員の事業審査 年1,500件超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88245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93008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開発まで対応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493008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本番のプロダクトまでつくる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493008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新規サービスの立ち上げ 年10件以上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29493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34256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伴走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334256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売る人・回す人までアサイン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334256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常駐・業務委託で参加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70741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75504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AIを活用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175504"/>
            <a:ext cx="4206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AIは前に出さず、全工程で使う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175504"/>
            <a:ext cx="4050791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工程ごとの活用例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011989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ページ全体の構成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6つの欄で構成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32342"/>
            <a:ext cx="585216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028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キャッチとロゴ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93885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9864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98648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コンセプト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898648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JILの立ち位置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52253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570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57016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特徴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557016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見極める・つくる・動かす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10621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1538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事業づくりの流れ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15384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支援の範囲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68989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7375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73752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事業開発×AI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873752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進め方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527357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3212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ご相談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321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30分の無料相談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185725"/>
            <a:ext cx="585216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ul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131" y="2240280"/>
            <a:ext cx="2020710" cy="336785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32" name="Picture 31" descr="full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441" y="2240280"/>
            <a:ext cx="2020710" cy="395020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入れなかったもの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同業の定番は使わない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使わないもの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代わりに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4382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「お悩みありませんか」の箱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517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65176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流れの各ステップで答える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2423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他社との比較表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2900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42900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3つの円の図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147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実績数字の帯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20624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20624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ロゴと役員の経験の数字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97871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trike="sngStrike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顔写真・料金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983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3A3A3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98348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相談の場で説明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755957"/>
            <a:ext cx="10817352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0350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※お客様インタビュー（5社）は、取材後に追加する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最初の画面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戦略から、実行まで。新規事業を、ひとつのチームで。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32342"/>
            <a:ext cx="329184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写真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エスカレーターを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行き交う人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61397"/>
            <a:ext cx="32918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49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ロゴ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ご支援企業6社を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すぐ下に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87277"/>
            <a:ext cx="32918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74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ボタン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30分の無料相談／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お問い合わせ</a:t>
            </a:r>
          </a:p>
        </p:txBody>
      </p:sp>
      <p:pic>
        <p:nvPicPr>
          <p:cNvPr id="15" name="Picture 14" descr="page_pc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240280"/>
            <a:ext cx="6364223" cy="39776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JILの特徴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見極める・つくる・動かす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103120"/>
            <a:ext cx="12191695" cy="32461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戦略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見極める</a:t>
            </a:r>
          </a:p>
        </p:txBody>
      </p:sp>
      <p:pic>
        <p:nvPicPr>
          <p:cNvPr id="9" name="Picture 8" descr="icon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880" y="2423160"/>
            <a:ext cx="740664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47472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1,500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件超／年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役員が携わってきた事業審査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6821" y="23774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つくる</a:t>
            </a:r>
          </a:p>
        </p:txBody>
      </p:sp>
      <p:pic>
        <p:nvPicPr>
          <p:cNvPr id="15" name="Picture 14" descr="icon_m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924" y="2423160"/>
            <a:ext cx="946404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65904" y="347472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10</a:t>
            </a:r>
            <a:r>
              <a:rPr sz="18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件以上／年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5904" y="457200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立ち上げてきた新規サービス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2605" y="23774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1688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実行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1688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動かす</a:t>
            </a:r>
          </a:p>
        </p:txBody>
      </p:sp>
      <p:pic>
        <p:nvPicPr>
          <p:cNvPr id="21" name="Picture 20" descr="icon_mo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2423160"/>
            <a:ext cx="1028700" cy="822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71688" y="347472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人材まで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1688" y="4572000"/>
            <a:ext cx="30571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仕組みづくりと人材のアサイン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6072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※数字は会社の実績ではなく、役員の経験として出す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事業づくりの流れ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5373" y="1453896"/>
            <a:ext cx="24109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4つのステップと土台で、立ち上げ全体を支援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2342"/>
            <a:ext cx="420624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ステップ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構想する → 確かめる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→ つくる → 立ち上げ・伸ばす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61397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490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土台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組織づくり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起案制度・カルチャー・研修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887277"/>
            <a:ext cx="42062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依頼の仕方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どのステップからでも依頼できる</a:t>
            </a:r>
          </a:p>
        </p:txBody>
      </p:sp>
      <p:pic>
        <p:nvPicPr>
          <p:cNvPr id="16" name="Picture 15" descr="flo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211" y="2240280"/>
            <a:ext cx="5156939" cy="39776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事業開発×AI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AIは前に出さず、進め方として見せる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キャッチには入れず、ページの後半で「進め方」として紹介する。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同業はAIを新メニューとして足す形が多い。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83902"/>
            <a:ext cx="10817352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ic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11880"/>
            <a:ext cx="180685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高速に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例：試作画面を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翌日に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5375" y="32918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_ic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458" y="3611880"/>
            <a:ext cx="2076844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4458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大量に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4458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例：LP・広告を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50パターンで検証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713" y="32918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_ic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3611880"/>
            <a:ext cx="1752872" cy="868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68796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網羅的に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例：競合・市場を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数百社規模で調査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4051" y="3291840"/>
            <a:ext cx="9525" cy="2743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i_ic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34" y="3611880"/>
            <a:ext cx="23164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73134" y="4709160"/>
            <a:ext cx="2338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自動的に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3134" y="5212080"/>
            <a:ext cx="24300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例：問い合わせ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対応を自動で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※例は支援内容の一例。期間や数量は案件によって異なる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デザイン調査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39744" y="1453896"/>
            <a:ext cx="1191768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同業の半分は「白×青」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同業24社と、デザインの評価が高いサイト30件を撮影して比較した。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白×青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24社中12社</a:t>
            </a:r>
          </a:p>
        </p:txBody>
      </p:sp>
      <p:pic>
        <p:nvPicPr>
          <p:cNvPr id="10" name="Picture 9" descr="co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1" name="Picture 10" descr="com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466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2" name="Picture 11" descr="com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892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3" name="Picture 12" descr="comp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318" y="2926080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85800" y="446770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ぼかし・球体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24901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AI系の会社に多い</a:t>
            </a:r>
          </a:p>
        </p:txBody>
      </p:sp>
      <p:pic>
        <p:nvPicPr>
          <p:cNvPr id="16" name="Picture 15" descr="comp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7" name="Picture 16" descr="comp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466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8" name="Picture 17" descr="comp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892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9" name="Picture 18" descr="comp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2318" y="4513421"/>
            <a:ext cx="2100834" cy="13130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出典：アルファドライブ／ボーンレックス／ゼロワンブースター／TimeSkip／Algomatic／NEWh／エクサウィザーズ／SUNDRED 各社サイト（2026/10/16・19 撮影）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手本にした4サイト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手本はBundl・Hexa・Coral Capital・PKSHA</a:t>
            </a:r>
          </a:p>
        </p:txBody>
      </p:sp>
      <p:pic>
        <p:nvPicPr>
          <p:cNvPr id="6" name="Picture 5" descr="bundl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2560320" cy="16002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520439" y="246888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Bundl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292608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文字と余白で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見せる</a:t>
            </a:r>
          </a:p>
        </p:txBody>
      </p:sp>
      <p:pic>
        <p:nvPicPr>
          <p:cNvPr id="9" name="Picture 8" descr="hexa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31720"/>
            <a:ext cx="2560320" cy="16002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157716" y="246888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Hexa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7716" y="292608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0→1→10を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線画で</a:t>
            </a:r>
          </a:p>
        </p:txBody>
      </p:sp>
      <p:pic>
        <p:nvPicPr>
          <p:cNvPr id="12" name="Picture 11" descr="coral_02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2560320" cy="159837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520439" y="448056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Coral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493776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3つの柱を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重なる円で</a:t>
            </a:r>
          </a:p>
        </p:txBody>
      </p:sp>
      <p:pic>
        <p:nvPicPr>
          <p:cNvPr id="15" name="Picture 14" descr="pksha_00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4343400"/>
            <a:ext cx="2560320" cy="159837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157716" y="4480560"/>
            <a:ext cx="2345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PKSHA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7716" y="4937760"/>
            <a:ext cx="23454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白黒の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静かなトーン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9720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出典：bundl.com／hexa.com／coralcap.co／pkshatech.com（2026/10/19 撮影）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566928"/>
            <a:ext cx="91440" cy="914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デザインの方針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457200" cy="5486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26944" y="1453896"/>
            <a:ext cx="785367" cy="201168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白と黒に、黄色をひとつ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40280"/>
            <a:ext cx="1371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64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白  </a:t>
            </a:r>
            <a:r>
              <a:rPr sz="12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#FFFFFF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240280"/>
            <a:ext cx="1371600" cy="914400"/>
          </a:xfrm>
          <a:prstGeom prst="rect">
            <a:avLst/>
          </a:prstGeom>
          <a:solidFill>
            <a:srgbClr val="14141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264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墨  </a:t>
            </a:r>
            <a:r>
              <a:rPr sz="12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#141414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2240280"/>
            <a:ext cx="1371600" cy="914400"/>
          </a:xfrm>
          <a:prstGeom prst="rect">
            <a:avLst/>
          </a:prstGeom>
          <a:solidFill>
            <a:srgbClr val="FFF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264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黄  </a:t>
            </a:r>
            <a:r>
              <a:rPr sz="1200" b="0">
                <a:solidFill>
                  <a:srgbClr val="6B6B6B"/>
                </a:solidFill>
                <a:latin typeface="Consolas"/>
                <a:ea typeface="Consolas"/>
                <a:cs typeface="Consolas"/>
              </a:rPr>
              <a:t>#FFF000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78262"/>
            <a:ext cx="6949440" cy="15875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黄色は強調とボタンだけに使う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007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写真は人が働く場面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7871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図は線で描く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2735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41414"/>
                </a:solidFill>
                <a:latin typeface="Noto Sans JP"/>
                <a:ea typeface="Noto Sans JP"/>
                <a:cs typeface="Noto Sans JP"/>
              </a:rPr>
              <a:t>スマホでも同じ内容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075997"/>
            <a:ext cx="694944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age_sp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563" y="2240280"/>
            <a:ext cx="1901389" cy="41148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JP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